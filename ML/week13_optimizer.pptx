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2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322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▸ Momentum ▸ RMSProp ▸ Adam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교재 슬라이드를 수정하여 작성됨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12강 복습: 학습 루프와 optimizer.step()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943600" cy="2286000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Week 12 학습 루프
</a:t>
            </a:r>
            <a:r>
              <a:rPr lang="en-US" sz="16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net.</a:t>
            </a:r>
            <a:r>
              <a:rPr lang="en-US" sz="16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r>
              <a:rPr lang="en-US" sz="16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(X_batch)
loss = loss_fn.</a:t>
            </a:r>
            <a:r>
              <a:rPr lang="en-US" sz="16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r>
              <a:rPr lang="en-US" sz="16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(pred, Y_batch)
grad = loss_fn.</a:t>
            </a:r>
            <a:r>
              <a:rPr lang="en-US" sz="16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</a:t>
            </a:r>
            <a:r>
              <a:rPr lang="en-US" sz="16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net.</a:t>
            </a:r>
            <a:r>
              <a:rPr lang="en-US" sz="16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</a:t>
            </a:r>
            <a:r>
              <a:rPr lang="en-US" sz="16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(grad)
optimizer.</a:t>
            </a:r>
            <a:r>
              <a:rPr lang="en-US" sz="16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6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(net)        </a:t>
            </a:r>
            <a:r>
              <a:rPr lang="en-US" sz="16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이 한 줄!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12801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입력 → 예측
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loss.forward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예측 vs 정답
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loss.backward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출력층 gradient
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net.backward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모든 층 dW, db 계산
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optimizer.step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dW, db 로 파라미터 갱신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129631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414198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지금까지의 optimizer = SGD 한 종류뿐. 오늘은 더 똑똑한 optimizer 들을 만든다.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SGD 는 언제 잘 작동하고 언제 실패하는가?
2. 어떻게 더 빠르고 안정적으로 만들 수 있는가?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다룰 내용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43000" y="1645920"/>
            <a:ext cx="731520" cy="73152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430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23160" y="2011680"/>
            <a:ext cx="27432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731520" cy="73152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290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4320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11680"/>
            <a:ext cx="27432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715000" y="1645920"/>
            <a:ext cx="731520" cy="731520"/>
          </a:xfrm>
          <a:prstGeom prst="ellipse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7150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02920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운동량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95160" y="2011680"/>
            <a:ext cx="27432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01000" y="1645920"/>
            <a:ext cx="731520" cy="731520"/>
          </a:xfrm>
          <a:prstGeom prst="ellipse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0010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31520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적응적 학습률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81160" y="2011680"/>
            <a:ext cx="27432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287000" y="1645920"/>
            <a:ext cx="731520" cy="731520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2870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60120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RMS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실전: Iris / MNIST 에서 4 종 optimizer 비교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ko-KR" alt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실습을 하고 과제로 연결됨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Gradient Descent — 학습률의 영향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← W − η · ∇L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학습률 (step 크기)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학습률 두 가지 극단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작음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안정적이지만 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느린 수렴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큼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빠르지만 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진동 / 발산 위험</a:t>
            </a:r>
            <a:endParaRPr lang="en-US" sz="1500" dirty="0"/>
          </a:p>
        </p:txBody>
      </p:sp>
      <p:pic>
        <p:nvPicPr>
          <p:cNvPr id="8" name="Image 0" descr="/home/claude/ppt_work/figs/fig_1d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76072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0" y="35204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6x² − 12x + 3, minimum at x=1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선택은 학습의 성패를 좌우 — "적당한 η" 를 찾는 게 SGD 의 첫 번째 어려움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슬라이드: 학습률 하나로 해결 안 되는 더 큰 문제 — 골짜기 지형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골짜기 지형 — 학습률의 딜레마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f(x,y) = 6x² + 40y² − 12x − 30y + 3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y축 곡률이 x축의 약 7배 — 신경망에서 흔한 ill-conditioned 손실 표면</a:t>
            </a:r>
            <a:endParaRPr lang="en-US" sz="1300" dirty="0"/>
          </a:p>
        </p:txBody>
      </p:sp>
      <p:pic>
        <p:nvPicPr>
          <p:cNvPr id="6" name="Image 0" descr="/home/claude/ppt_work/figs/fig_valley_s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11680"/>
            <a:ext cx="941832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큼 → y축 진동,  η 작음 → x축 너무 느림.  SGD 단독으로는 양립 불가.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해법: y축 진동을 줄이거나, 차원별로 다른 step 크기를 — Momentum / RMSProp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Minimum — 출발점에 종속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home/claude/ppt_work/figs/fig_local_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48640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개의 극소점 (global / local)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0" y="18288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출발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(−1.5, 1.5) → 깊은 골짜기 (global min)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 출발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(1.5, 1.5) → 얕은 골짜기 (local min)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0" y="3474720"/>
            <a:ext cx="5303520" cy="411480"/>
          </a:xfrm>
          <a:prstGeom prst="rect">
            <a:avLst/>
          </a:prstGeom>
          <a:solidFill>
            <a:srgbClr val="E59E3D"/>
          </a:solidFill>
          <a:ln w="12700">
            <a:solidFill>
              <a:srgbClr val="E59E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0" y="3474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벗어나는 두 가지 방법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0" y="3886200"/>
            <a:ext cx="5303520" cy="2057400"/>
          </a:xfrm>
          <a:prstGeom prst="rect">
            <a:avLst/>
          </a:prstGeom>
          <a:solidFill>
            <a:srgbClr val="FBE9D2"/>
          </a:solidFill>
          <a:ln w="12700">
            <a:solidFill>
              <a:srgbClr val="FBE9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629400" y="4023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미니배치의 잡음 (noise)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SGD 의 무작위성이 작은 봉우리를 우연히 넘어가게 함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운동량 (momentum)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이전 step 의 방향으로 "관성"을 줘서 봉우리를 넘김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— Stochastic Gradient Descent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486400" cy="3749040"/>
          </a:xfrm>
          <a:prstGeom prst="rect">
            <a:avLst/>
          </a:prstGeom>
          <a:solidFill>
            <a:srgbClr val="F8E4E2"/>
          </a:solidFill>
          <a:ln w="12700">
            <a:solidFill>
              <a:srgbClr val="F8E4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데이터로 한 번에 gradient 계산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← θ − η · ∇L(θ;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데이터)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안정적, 진짜 gradient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데이터가 크면 1 step 도 비쌈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local minimum 에 갇힘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SGD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86400" cy="3749040"/>
          </a:xfrm>
          <a:prstGeom prst="rect">
            <a:avLst/>
          </a:prstGeom>
          <a:solidFill>
            <a:srgbClr val="E2F4E8"/>
          </a:solidFill>
          <a:ln w="12700">
            <a:solidFill>
              <a:srgbClr val="E2F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46520" y="17830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미니배치로 gradient 근사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← θ − η · ∇L(θ;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계산 빠름, 잡음이 local min 탈출에 도움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gradient 가 "진짜" 가 아니라 추정치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경로가 흔들림 (oscillation)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"SGD" 라고 부르지만 사실 미니배치 (32 ~ 256). 잡음은 단점이자 장점.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의 세 가지 한계 → 세 가지 해법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의 한계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골짜기 진동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학습률이면 가파른 방향에서 oscillation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느린 수렴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평탄한 방향에서는 step 이 너무 작음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학습률 민감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하나가 모든 파라미터·모든 step 에 동일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해법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0" y="2057400"/>
            <a:ext cx="548640" cy="0"/>
          </a:xfrm>
          <a:prstGeom prst="line">
            <a:avLst/>
          </a:prstGeom>
          <a:noFill/>
          <a:ln w="317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858000" y="1737360"/>
            <a:ext cx="640080" cy="64008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580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8096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8096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방향에 관성을 더해 진동 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3154680"/>
            <a:ext cx="548640" cy="0"/>
          </a:xfrm>
          <a:prstGeom prst="line">
            <a:avLst/>
          </a:prstGeom>
          <a:noFill/>
          <a:ln w="317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858000" y="2834640"/>
            <a:ext cx="640080" cy="640080"/>
          </a:xfrm>
          <a:prstGeom prst="ellipse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580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096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8096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차원별 step 크기를 자동 조정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4251960"/>
            <a:ext cx="548640" cy="0"/>
          </a:xfrm>
          <a:prstGeom prst="line">
            <a:avLst/>
          </a:prstGeom>
          <a:noFill/>
          <a:ln w="3175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858000" y="3931920"/>
            <a:ext cx="640080" cy="640080"/>
          </a:xfrm>
          <a:prstGeom prst="ellipse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85800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80960" y="3886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8096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+ RMSProp — 두 효과 모두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이 "기본 선택" 이 된 이유 — 세 가지 한계를 한꺼번에 완화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— 관성을 추가하다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943600" cy="2011680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r>
              <a:rPr lang="en-US" sz="28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μ·</a:t>
            </a:r>
            <a:r>
              <a:rPr lang="en-US" sz="2800" b="1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r>
              <a:rPr lang="en-US" sz="28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η·∇L
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</a:t>
            </a:r>
            <a:r>
              <a:rPr lang="en-US" sz="28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</a:t>
            </a:r>
            <a:r>
              <a:rPr lang="en-US" sz="2800" b="1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</a:t>
            </a:r>
            <a:r>
              <a:rPr lang="en-US" sz="28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2800" b="1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67512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직관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6459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속도 (velocity)
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마찰 계수 (보통 0.9)
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가속도의 크기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5486400" cy="2011680"/>
          </a:xfrm>
          <a:prstGeom prst="rect">
            <a:avLst/>
          </a:prstGeom>
          <a:solidFill>
            <a:srgbClr val="E2F4E8"/>
          </a:solidFill>
          <a:ln w="12700">
            <a:solidFill>
              <a:srgbClr val="E2F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42519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일관된 방향은 누적 → 가속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진동 방향은 상쇄 → 안정화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작은 봉우리를 관성으로 통과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골짜기를 따라 빠르게 흐름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657600"/>
            <a:ext cx="54864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1792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4114800"/>
            <a:ext cx="5486400" cy="2011680"/>
          </a:xfrm>
          <a:prstGeom prst="rect">
            <a:avLst/>
          </a:prstGeom>
          <a:solidFill>
            <a:srgbClr val="F8E4E2"/>
          </a:solidFill>
          <a:ln w="12700">
            <a:solidFill>
              <a:srgbClr val="F8E4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46520" y="42519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학습률 η 에 여전히 민감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μ 가 너무 크면 minimum 을 지나침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velocity 저장으로 메모리 2배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Nesterov momentum 이 개선 변형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 — 차원별 학습률 자동 조정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943600" cy="2194560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2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ρ·</a:t>
            </a:r>
            <a:r>
              <a:rPr lang="en-US" sz="2200" b="1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2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(1−ρ)·g²
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</a:t>
            </a:r>
            <a:r>
              <a:rPr lang="en-US" sz="2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</a:t>
            </a:r>
            <a:r>
              <a:rPr lang="en-US" sz="2200" b="1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</a:t>
            </a:r>
            <a:r>
              <a:rPr lang="en-US" sz="2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η · g / (√</a:t>
            </a:r>
            <a:r>
              <a:rPr lang="en-US" sz="2200" b="1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2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ε)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67512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645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gradient 제곱의 이동 평균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"이 차원의 최근 변동 크기"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g 가 자주 → √s ↑ → step ↓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g 가 자주 → √s ↓ → step 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가파른 방향은 자동으로 step 을 줄이고, 평탄한 방향은 늘려간다.
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골짜기 지형(slide 5)에서 SGD 의 </a:t>
            </a: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딜레마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자동으로 해결.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0.9 (옛 정보 90% + 최근 정보 10%)  |  ε = 1e-8 (0 으로 나누기 방지)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— Momentum + RMSProp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00" cy="5212080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6949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1차 모멘트 (Momentum)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7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5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β₁·</a:t>
            </a:r>
            <a:r>
              <a:rPr lang="en-US" sz="1500" b="1" dirty="0">
                <a:solidFill>
                  <a:srgbClr val="1F7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5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(1−β₁)·g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2차 모멘트 (RMSProp)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A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r>
              <a:rPr lang="en-US" sz="15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β₂·</a:t>
            </a:r>
            <a:r>
              <a:rPr lang="en-US" sz="1500" b="1" dirty="0">
                <a:solidFill>
                  <a:srgbClr val="2CA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r>
              <a:rPr lang="en-US" sz="15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(1−β₂)·g²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편향 보정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m̂ = </a:t>
            </a:r>
            <a:r>
              <a:rPr lang="en-US" sz="1500" b="1" dirty="0">
                <a:solidFill>
                  <a:srgbClr val="1F7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5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(1−β₁ᵗ),   v̂ = </a:t>
            </a:r>
            <a:r>
              <a:rPr lang="en-US" sz="1500" b="1" dirty="0">
                <a:solidFill>
                  <a:srgbClr val="2CA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r>
              <a:rPr lang="en-US" sz="15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(1−β₂ᵗ)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파라미터 갱신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</a:t>
            </a:r>
            <a:r>
              <a:rPr lang="en-US" sz="15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</a:t>
            </a:r>
            <a:r>
              <a:rPr lang="en-US" sz="1500" b="1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</a:t>
            </a:r>
            <a:r>
              <a:rPr lang="en-US" sz="15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η · m̂ / (√v̂ + ε)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권장값 (논문 기본)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16916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  = 10⁻³
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β₁ = 0.9
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β₂ = 0.999
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 = 10⁻⁸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Adam 이 기본?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0" y="411480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Momentum 의 진동 억제
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RMSProp 의 적응 학습률
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편향 보정으로 초기 안정
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학습률에 둔감 (Slide 18)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종 Optimizer 궤적 — 같은 골짜기, 같은 출발점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home/claude/ppt_work/figs/fig_4opt_tr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097280"/>
            <a:ext cx="886968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6080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수식만으로 안 보이는 "왜" — 같은 문제에서 optimizer 별로 완전히 다른 길을 간다.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진화 — neural_network.py → _v2.py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— v1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solidFill>
            <a:srgbClr val="F8E4E2"/>
          </a:solidFill>
          <a:ln w="12700">
            <a:solidFill>
              <a:srgbClr val="F8E4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Dense(Layer):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update(self, lr):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 -= lr * self.dW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 -= lr * self.db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학습 루프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net.update(lr=0.01)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추가하려면 Dense 안에 velocity 변수까지 넣어야 함. 층의 정의와 갱신 규칙이 섞임.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— v2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86400" cy="4114800"/>
          </a:xfrm>
          <a:prstGeom prst="rect">
            <a:avLst/>
          </a:prstGeom>
          <a:solidFill>
            <a:srgbClr val="E2F4E8"/>
          </a:solidFill>
          <a:ln w="12700">
            <a:solidFill>
              <a:srgbClr val="E2F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46520" y="17830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Dense(Layer):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params_and_grads(self):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[(self.W, self.dW),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(self.b, self.db)]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학습 루프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optimizer.step(net)
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해법: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는 "내 파라미터/그래디언트는 이것" 만 알려주고, 갱신 규칙은 Optimizer 가 담당. 두 책임 분리.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Keras 가 쓰는 구조와 동일 — 옛 코드와 새 코드의 diff 를 보며 "왜 진화했는지" 이해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— Optimizer base + SGD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인터페이스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3200400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100" b="1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</a:t>
            </a: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1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1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net):
        for layer in net.layers:
            for param, grad in \
                    layer.params_and_grads():
                self._update(param, grad)
</a:t>
            </a:r>
            <a:r>
              <a:rPr lang="en-US" sz="11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1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_update</a:t>
            </a: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param, grad):
        </a:t>
            </a:r>
            <a:r>
              <a:rPr lang="en-US" sz="11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</a:t>
            </a:r>
            <a:r>
              <a:rPr lang="en-US" sz="11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NotImplementedError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구현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86400" cy="3200400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200" b="1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SGD</a:t>
            </a: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(Optimizer):
</a:t>
            </a: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2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lr=</a:t>
            </a: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        self.lr = lr
</a:t>
            </a: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2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_update</a:t>
            </a:r>
            <a:r>
              <a:rPr lang="en-US" sz="12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param, grad):
        param -= self.lr * grad
        </a:t>
            </a:r>
            <a:r>
              <a:rPr lang="en-US" sz="12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in-place 갱신!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optimizer 는 _update 한 줄만 다르면 끝.  Momentum / RMSProp / Adam 도 같은 패턴.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슬라이드: </a:t>
            </a: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Momentum, RMSProp, Adam 의 _update 구현 비교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/ RMSProp / Adam — _update 비교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74904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749040" cy="3383280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_update</a:t>
            </a:r>
            <a:r>
              <a:rPr lang="en-US" sz="10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p, g):
    k = id(p)
    if k not in self.v:
        self.v[k] = \
            np.zeros_like(p)
    self.v[k] = (
        self.mu * self.v[k]
        - self.lr * g)
    p += self.v[k]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25112" y="1188720"/>
            <a:ext cx="3749040" cy="4572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25112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5112" y="1645920"/>
            <a:ext cx="3749040" cy="3383280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62272" y="173736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_update</a:t>
            </a:r>
            <a:r>
              <a:rPr lang="en-US" sz="10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p, g):
    k = id(p)
    if k not in self.s:
        self.s[k] = \
            np.zeros_like(p)
    self.s[k] = (
        self.rho * self.s[k]
        + (1-self.rho) * g**2)
    p -= self.lr * g / (
        np.sqrt(self.s[k])
        + self.eps)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93024" y="1188720"/>
            <a:ext cx="3749040" cy="457200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93024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93024" y="1645920"/>
            <a:ext cx="3749040" cy="3383280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30184" y="173736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B8E9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_update</a:t>
            </a:r>
            <a:r>
              <a:rPr lang="en-US" sz="10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p, g):
    k = id(p)
</a:t>
            </a:r>
            <a:r>
              <a:rPr lang="en-US" sz="10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 init m, v ...
</a:t>
            </a:r>
            <a:r>
              <a:rPr lang="en-US" sz="9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self.m[k] = (b1*m + (1-b1)*g)
    self.v[k] = (b2*v + (1-b2)*g**2)
</a:t>
            </a:r>
            <a:r>
              <a:rPr lang="en-US" sz="10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m_hat = m / (1 - b1**t)
    v_hat = v / (1 - b2**t)
    p -= self.lr * m_hat / (
        np.sqrt(v_hat) + eps)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패턴: id(p) 로 상태 저장 → 수식 적용 → p in-place 갱신.  핵심 "공식 두세 줄" 만 다르다.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예시 — Optimizer 한 줄만 바꾸면 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10332720" cy="4754880"/>
          </a:xfrm>
          <a:prstGeom prst="rect">
            <a:avLst/>
          </a:prstGeom>
          <a:solidFill>
            <a:srgbClr val="1E2940"/>
          </a:solidFill>
          <a:ln w="12700">
            <a:solidFill>
              <a:srgbClr val="1E29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51560" y="1280160"/>
            <a:ext cx="10058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네트워크 — 어떤 optimizer 든 똑같음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= Network()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net.add(Dense(</a:t>
            </a:r>
            <a:r>
              <a:rPr lang="en-US" sz="13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784, 128</a:t>
            </a: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 net.add(ReLU()); net.add(Dense(</a:t>
            </a:r>
            <a:r>
              <a:rPr lang="en-US" sz="13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128, 10</a:t>
            </a: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loss_fn = SoftmaxCE()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▼ 이 한 줄만 바꿔보자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</a:t>
            </a:r>
            <a:r>
              <a:rPr lang="en-US" sz="13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SGD</a:t>
            </a: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(lr=</a:t>
            </a:r>
            <a:r>
              <a:rPr lang="en-US" sz="13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optimizer = </a:t>
            </a:r>
            <a:r>
              <a:rPr lang="en-US" sz="1300" b="1" dirty="0">
                <a:solidFill>
                  <a:srgbClr val="1F7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</a:t>
            </a:r>
            <a:r>
              <a:rPr lang="en-US" sz="13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(lr=0.01, mu=0.9)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optimizer = </a:t>
            </a:r>
            <a:r>
              <a:rPr lang="en-US" sz="1300" b="1" dirty="0">
                <a:solidFill>
                  <a:srgbClr val="2CA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RMSProp</a:t>
            </a:r>
            <a:r>
              <a:rPr lang="en-US" sz="13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(lr=0.001)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optimizer = </a:t>
            </a:r>
            <a:r>
              <a:rPr lang="en-US" sz="1300" b="1" dirty="0">
                <a:solidFill>
                  <a:srgbClr val="D62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</a:t>
            </a:r>
            <a:r>
              <a:rPr lang="en-US" sz="13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(lr=0.001)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1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학습 — 호출은 그대로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fit(net, X, Y, loss_fn, optimizer, epochs=</a:t>
            </a:r>
            <a:r>
              <a:rPr lang="en-US" sz="13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batch_size=</a:t>
            </a:r>
            <a:r>
              <a:rPr lang="en-US" sz="13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PyTorch / Keras 의 핵심 디자인.  네트워크 = 모델 정의,  Optimizer = 학습 전략.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실험: IRIS 분류 — 4 종 optimizer 비교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home/claude/ppt_work/figs/fig_iris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3152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설정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046720" y="15544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네트워크: 4 → 16 → 3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100, batch: 16
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초기 가중치 (seed=0)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2743200"/>
          <a:ext cx="3931920" cy="18288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C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CA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627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&gt; RMSProp &gt; Momentum &gt; SGD (수렴 속도). 정확도는 모두 97.8% — Iris 는 너무 쉬워서 차이 안 남.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더 어려운 문제에서 차이가 커진다. 다음: 학습률 민감도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의 강점: 학습률에 둔감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IRIS 문제, 학습률만 4 단계로 변화시킬 때 최종 test accuracy</a:t>
            </a:r>
            <a:endParaRPr lang="en-US" sz="1400" dirty="0"/>
          </a:p>
        </p:txBody>
      </p:sp>
      <p:pic>
        <p:nvPicPr>
          <p:cNvPr id="5" name="Image 0" descr="/home/claude/ppt_work/figs/fig_lr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4480"/>
            <a:ext cx="941832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 의미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solidFill>
            <a:srgbClr val="F8F2FC"/>
          </a:solidFill>
          <a:ln w="12700">
            <a:solidFill>
              <a:srgbClr val="F8F2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lr=10⁻⁴ 면 42%, lr=10⁻¹ 면 98% —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선택이 결과를 좌우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lr=10⁻³ 부터 이미 96%, lr 4 배 변화에도 거의 비슷 —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튜닝 부담 ↓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 — 어떤 optimizer 를 언제?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2377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아이디어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C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C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← θ − η·g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단순, 메모리 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진동, 느림, lr 민감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이전 velocity 누적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진동 ↓, 골짜기 빠르게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여전히 민감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A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차원별 g² 추적 → lr 자동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평탄/가파른 방향 자동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관성 효과 없음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27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 + RMSProp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두 효과 모두, lr 둔감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메모리 2배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가이드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처음엔 </a:t>
            </a:r>
            <a:r>
              <a:rPr lang="en-US" sz="14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(lr=10⁻³)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거의 항상 무난한 성능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8720" y="4983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성능을 더 짜내야 하면 </a:t>
            </a:r>
            <a:r>
              <a:rPr lang="en-US" sz="14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 Momentum + lr scheduling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(이미지 분류 SOTA 들이 즐겨 씀)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577840"/>
            <a:ext cx="457200" cy="45720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486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8872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메모리가 빠듯하면 </a:t>
            </a: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/ Momentum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(Adam 은 m, v 저장으로 메모리 2배)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숙제: Optimizer 비교 실험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31750">
            <a:solidFill>
              <a:srgbClr val="B388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 (5 부분)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" cy="457200"/>
          </a:xfrm>
          <a:prstGeom prst="rect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4 종 직접 구현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" cy="457200"/>
          </a:xfrm>
          <a:prstGeom prst="rect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학습 곡선 비교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" cy="457200"/>
          </a:xfrm>
          <a:prstGeom prst="rect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optimizer 비교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822960" cy="457200"/>
          </a:xfrm>
          <a:prstGeom prst="rect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학습률 민감도 측정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337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" cy="457200"/>
          </a:xfrm>
          <a:prstGeom prst="rect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질문 4 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1097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15544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종 optimizer 수식을 코드로 옮기기
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IRIS / MNIST 학습 곡선 직접 그려보기
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학습률 변화가 결과에 미치는 영향 측정
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그래프 근거로 의견 정리하기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3931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파일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0" y="43891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week13_homework.ipynb
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끝까지 실행한 결과 + 분석 답변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C7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Adam 의 t (time step) 누락이 가장 흔한 버그 — XOR 로 미리 검증할 것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2348</Words>
  <Application>Microsoft Office PowerPoint</Application>
  <PresentationFormat>와이드스크린</PresentationFormat>
  <Paragraphs>306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- Optimizer</dc:title>
  <dc:subject>PptxGenJS Presentation</dc:subject>
  <dc:creator>Machine Learning Lecture</dc:creator>
  <cp:lastModifiedBy>이용오</cp:lastModifiedBy>
  <cp:revision>2</cp:revision>
  <dcterms:created xsi:type="dcterms:W3CDTF">2026-05-19T08:22:25Z</dcterms:created>
  <dcterms:modified xsi:type="dcterms:W3CDTF">2026-05-19T08:35:00Z</dcterms:modified>
</cp:coreProperties>
</file>